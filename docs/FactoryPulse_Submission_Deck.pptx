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2" r:id="rId12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</a:t>
            </a:r>
            <a:r>
              <a:rPr b="1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ICE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b="1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Predictive Maintenance and OEE Command Center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</a:t>
            </a:r>
            <a:r>
              <a:rPr b="1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Amogh Kotha Nagaraj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 </a:t>
            </a:r>
            <a:r>
              <a:rPr b="1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02336" y="2761488"/>
            <a:ext cx="8229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1F3A"/>
                </a:solidFill>
                <a:latin typeface="Arial"/>
              </a:rPr>
              <a:t>FactoryPulse</a:t>
            </a:r>
            <a:r>
              <a:rPr sz="1300" b="0" i="0">
                <a:solidFill>
                  <a:srgbClr val="5B6472"/>
                </a:solidFill>
                <a:latin typeface="Arial"/>
              </a:rPr>
              <a:t>  —  IT/OT converged predictive maintenance with a local Granite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3A"/>
                </a:solidFill>
                <a:latin typeface="Arial"/>
              </a:rPr>
              <a:t>Problem Brief: breakdowns hide in the OT/IT gap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1033271"/>
            <a:ext cx="8321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B6472"/>
                </a:solidFill>
                <a:latin typeface="Arial"/>
              </a:rPr>
              <a:t>Discrete manufacturing (machining, pressing, conveying, pumping) · Industry 4.0 IT/OT convergence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11480" y="1417320"/>
            <a:ext cx="4069080" cy="169164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548640" y="1527048"/>
            <a:ext cx="292608" cy="292608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1508760"/>
            <a:ext cx="34290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Real business problem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1874519"/>
            <a:ext cx="37947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Sensors show vibration and temperature drifting 24-48 h before a breakdown, but that data lives in OT historians.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Production schedule, maintenance history, parts and cost live in ERP/CMMS. Nobody sees both at once.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Result: failures are discovered when the machine stops, and OEE loss is explained weeks later.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663440" y="1417320"/>
            <a:ext cx="4069080" cy="16916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4800600" y="1527048"/>
            <a:ext cx="292608" cy="292608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66360" y="1508760"/>
            <a:ext cx="34290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Target users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1874519"/>
            <a:ext cx="37947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Reliability engineer / maintenance planner: who to inspect today, and why.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Shift supervisor: what the line will deliver this shift and which asset is at risk.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Plant manager: OEE by line and the cost of unplanned downtime.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" y="3291840"/>
            <a:ext cx="4069080" cy="16916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548640" y="3401568"/>
            <a:ext cx="292608" cy="292608"/>
          </a:xfrm>
          <a:prstGeom prst="ellipse">
            <a:avLst/>
          </a:prstGeom>
          <a:solidFill>
            <a:srgbClr val="E8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3383280"/>
            <a:ext cx="34290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Pain today  →  with FactoryPulse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3749040"/>
            <a:ext cx="37947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Found at breakdown  →  predicted ~20 h ahead, with drivers.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Manual work order after the fact  →  P1 WO auto-created with evidence.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Root cause = days across systems  →  grounded answer in seconds.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OEE reported monthly  →  live by asset/line, tied to the cause.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663440" y="3291840"/>
            <a:ext cx="4069080" cy="169164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4800600" y="3401568"/>
            <a:ext cx="292608" cy="292608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66360" y="3383280"/>
            <a:ext cx="342900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Why now / domain context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00600" y="3749040"/>
            <a:ext cx="37947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IT/OT convergence is the core of Industry 4.0 programmes; the data already exists, it is just siloed.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Small local LLMs (Granite 4.0 1B) now run on a plant PC: no cloud round-trip for sensitive OT data.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50" b="0" i="0">
                <a:solidFill>
                  <a:srgbClr val="0B1F3A"/>
                </a:solidFill>
                <a:latin typeface="Arial"/>
              </a:rPr>
              <a:t>Snowflake Dynamic Tables, Tasks and Cortex Analyst give the same design a governed cloud twin.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3A"/>
                </a:solidFill>
                <a:latin typeface="Arial"/>
              </a:rPr>
              <a:t>Architecture: one pipeline from sensor stream to work order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1005840"/>
            <a:ext cx="832104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1">
                <a:solidFill>
                  <a:srgbClr val="5B6472"/>
                </a:solidFill>
                <a:latin typeface="Arial"/>
              </a:rPr>
              <a:t>Local MVP: SQLite · scikit-learn · Streamlit · Granite 4.0 1B GGUF   |   Snowflake twin: Dynamic Tables · Model Registry · Task · Cortex Analyst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1298448"/>
            <a:ext cx="1874519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B6472"/>
                </a:solidFill>
                <a:latin typeface="Arial"/>
              </a:rPr>
              <a:t>DATA SOURCES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60320" y="1298448"/>
            <a:ext cx="1874519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B6472"/>
                </a:solidFill>
                <a:latin typeface="Arial"/>
              </a:rPr>
              <a:t>CONVERGED FEATURES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1298448"/>
            <a:ext cx="1874519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B6472"/>
                </a:solidFill>
                <a:latin typeface="Arial"/>
              </a:rPr>
              <a:t>PREDICT &amp; ACT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0" y="1298448"/>
            <a:ext cx="1874519" cy="21945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5B6472"/>
                </a:solidFill>
                <a:latin typeface="Arial"/>
              </a:rPr>
              <a:t>EXPERIENCE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11480" y="153619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3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84632" y="1581912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E9E6A"/>
                </a:solidFill>
                <a:latin typeface="Arial"/>
              </a:rPr>
              <a:t>OT · sensor stream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vibration, temp, RPM, status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5-min samples · structured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11480" y="226771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484632" y="2313432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565D8"/>
                </a:solidFill>
                <a:latin typeface="Arial"/>
              </a:rPr>
              <a:t>IT · ERP production orders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planned/run min, counts, scrap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per shift · structured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299923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484632" y="3044951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565D8"/>
                </a:solidFill>
                <a:latin typeface="Arial"/>
              </a:rPr>
              <a:t>IT · CMMS work orders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type, parts, cost, technician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free-text findings · unstructured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560320" y="153619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2633472" y="1581912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565D8"/>
                </a:solidFill>
                <a:latin typeface="Arial"/>
              </a:rPr>
              <a:t>Hourly feature table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rolling stats, trends, baselines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+ hours since maintenance (IT)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0" y="226771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2633472" y="2313432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565D8"/>
                </a:solidFill>
                <a:latin typeface="Arial"/>
              </a:rPr>
              <a:t>OEE daily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Availability × Perf. × Quality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Snowflake: Dynamic Table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560320" y="299923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633472" y="3044951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1565D8"/>
                </a:solidFill>
                <a:latin typeface="Arial"/>
              </a:rPr>
              <a:t>Evidence pack builder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sensor deltas, drivers, WO history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production context, for grounding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709160" y="153619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4782312" y="1581912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E87A1A"/>
                </a:solidFill>
                <a:latin typeface="Arial"/>
              </a:rPr>
              <a:t>Failure model (GBM)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P(failure in 24 h) + top drivers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holdout-tested · Model Registry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09160" y="226771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4782312" y="2313432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E87A1A"/>
                </a:solidFill>
                <a:latin typeface="Arial"/>
              </a:rPr>
              <a:t>Alert engine + rule limits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risk ≥ 0.7 CRITICAL · ≥ 0.4 WARNING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dedupe, auto-resolve, safety net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709160" y="299923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FDE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782312" y="3044951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E87A1A"/>
                </a:solidFill>
                <a:latin typeface="Arial"/>
              </a:rPr>
              <a:t>Work-order automation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P1 predictive WO with evidence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one WO per asset · 15-min Task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858000" y="153619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6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6931152" y="1581912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4B3FC4"/>
                </a:solidFill>
                <a:latin typeface="Arial"/>
              </a:rPr>
              <a:t>Streamlit command center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overview, triage, asset explorer,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work orders, system health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858000" y="226771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6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931152" y="2313432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4B3FC4"/>
                </a:solidFill>
                <a:latin typeface="Arial"/>
              </a:rPr>
              <a:t>Ask in natural language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verified queries → guarded SQL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read-only, auto-LIMIT, retry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858000" y="2999232"/>
            <a:ext cx="1874519" cy="640080"/>
          </a:xfrm>
          <a:prstGeom prst="roundRect">
            <a:avLst>
              <a:gd name="adj" fmla="val 8000"/>
            </a:avLst>
          </a:prstGeom>
          <a:solidFill>
            <a:srgbClr val="E6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6931152" y="3044951"/>
            <a:ext cx="17282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4B3FC4"/>
                </a:solidFill>
                <a:latin typeface="Arial"/>
              </a:rPr>
              <a:t>Root cause · Granite 1B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grounded on the evidence pack</a:t>
            </a:r>
          </a:p>
          <a:p>
            <a:pPr algn="l">
              <a:spcAft>
                <a:spcPts val="1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rule-based fallback if LLM is down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2286000" y="1856231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2286000" y="2587752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2286000" y="3319272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4434840" y="1856231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4434840" y="2587752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4434840" y="3319272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6583680" y="1856231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583680" y="2587752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583680" y="3319272"/>
            <a:ext cx="274320" cy="0"/>
          </a:xfrm>
          <a:prstGeom prst="line">
            <a:avLst/>
          </a:prstGeom>
          <a:ln w="19050">
            <a:solidFill>
              <a:srgbClr val="1565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411480" y="3730752"/>
            <a:ext cx="8321040" cy="10972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548640" y="3776472"/>
            <a:ext cx="80467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CoCo CLI skills used, and how they connect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4041648"/>
            <a:ext cx="26060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F9BFF"/>
                </a:solidFill>
                <a:latin typeface="Arial"/>
              </a:rPr>
              <a:t>Synthetic data generation: </a:t>
            </a:r>
            <a:r>
              <a:rPr sz="850" b="0" i="0">
                <a:solidFill>
                  <a:srgbClr val="FFFFFF"/>
                </a:solidFill>
                <a:latin typeface="Arial"/>
              </a:rPr>
              <a:t>referentially consistent OT + ERP + CMMS sets, no production data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46120" y="4041648"/>
            <a:ext cx="26060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F9BFF"/>
                </a:solidFill>
                <a:latin typeface="Arial"/>
              </a:rPr>
              <a:t>Data pipeline creation: </a:t>
            </a:r>
            <a:r>
              <a:rPr sz="850" b="0" i="0">
                <a:solidFill>
                  <a:srgbClr val="FFFFFF"/>
                </a:solidFill>
                <a:latin typeface="Arial"/>
              </a:rPr>
              <a:t>hourly features &amp; OEE as Dynamic Tables; scheduled scoring Task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43600" y="4041648"/>
            <a:ext cx="26060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F9BFF"/>
                </a:solidFill>
                <a:latin typeface="Arial"/>
              </a:rPr>
              <a:t>Semantic model authoring: </a:t>
            </a:r>
            <a:r>
              <a:rPr sz="850" b="0" i="0">
                <a:solidFill>
                  <a:srgbClr val="FFFFFF"/>
                </a:solidFill>
                <a:latin typeface="Arial"/>
              </a:rPr>
              <a:t>Cortex Analyst YAML with verified queries (same tier as the app)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640" y="4425696"/>
            <a:ext cx="26060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F9BFF"/>
                </a:solidFill>
                <a:latin typeface="Arial"/>
              </a:rPr>
              <a:t>Streamlit app generation: </a:t>
            </a:r>
            <a:r>
              <a:rPr sz="850" b="0" i="0">
                <a:solidFill>
                  <a:srgbClr val="FFFFFF"/>
                </a:solidFill>
                <a:latin typeface="Arial"/>
              </a:rPr>
              <a:t>command center scaffolded and iterated in CoCo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246120" y="4425696"/>
            <a:ext cx="26060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F9BFF"/>
                </a:solidFill>
                <a:latin typeface="Arial"/>
              </a:rPr>
              <a:t>Automation + guardrails: </a:t>
            </a:r>
            <a:r>
              <a:rPr sz="850" b="0" i="0">
                <a:solidFill>
                  <a:srgbClr val="FFFFFF"/>
                </a:solidFill>
                <a:latin typeface="Arial"/>
              </a:rPr>
              <a:t>unattended runs, read-only SQL guard, alert dedupe, LLM fallback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943600" y="4425696"/>
            <a:ext cx="2606040" cy="38404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F9BFF"/>
                </a:solidFill>
                <a:latin typeface="Arial"/>
              </a:rPr>
              <a:t>Reusable skill: </a:t>
            </a:r>
            <a:r>
              <a:rPr sz="850" b="0" i="0">
                <a:solidFill>
                  <a:srgbClr val="FFFFFF"/>
                </a:solidFill>
                <a:latin typeface="Arial"/>
              </a:rPr>
              <a:t>coco/skills/factorypulse-pipeline: build, run, validate, deploy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3A"/>
                </a:solidFill>
                <a:latin typeface="Arial"/>
              </a:rPr>
              <a:t>CoCo across the lifecycle, guardrails, and the 3-minute demo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11480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521208" y="1280160"/>
            <a:ext cx="274320" cy="274320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" y="1261872"/>
            <a:ext cx="14630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Planning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8" y="1600200"/>
            <a:ext cx="1792224" cy="7132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coco/PLAN.md: problem framing, ontology, workflow, design decisions, validation plan drafted before the build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514600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2624328" y="1280160"/>
            <a:ext cx="274320" cy="274320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971800" y="1261872"/>
            <a:ext cx="14630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Development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24328" y="1600200"/>
            <a:ext cx="1792224" cy="7132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pipeline, model, Streamlit app, Snowflake DDL / Dynamic Tables / semantic model built and iterated in CoCo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17720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4727448" y="1280160"/>
            <a:ext cx="274320" cy="274320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74920" y="1261872"/>
            <a:ext cx="14630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Execution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27448" y="1600200"/>
            <a:ext cx="1792224" cy="7132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run_pipeline.py end-to-end; simulate_stream.py near-real-time ticks; scheduled Snowflake Task for unattended scoring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720840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6830568" y="1280160"/>
            <a:ext cx="274320" cy="274320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178040" y="1261872"/>
            <a:ext cx="146304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B1F3A"/>
                </a:solidFill>
                <a:latin typeface="Arial"/>
              </a:rPr>
              <a:t>Testing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30568" y="1600200"/>
            <a:ext cx="1792224" cy="7132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0B1F3A"/>
                </a:solidFill>
                <a:latin typeface="Arial"/>
              </a:rPr>
              <a:t>20 pytest checks: data integrity, OEE math, model floor, alert guardrails, SQL guard, LLM-free fallback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11480" y="2487168"/>
            <a:ext cx="4069080" cy="1920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521207" y="2596896"/>
            <a:ext cx="292608" cy="292608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6968" y="2578608"/>
            <a:ext cx="34747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Guardrails and graceful fallback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1207" y="2944368"/>
            <a:ext cx="384048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Natural-language path can never write: single SELECT only, forbidden keywords blocked, auto-LIMIT, read-only connection.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Verified queries answer common questions deterministically before the LLM is involved.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Alerts de-duplicated per asset/type; only CRITICAL opens a work order; one open WO per asset; auto-resolve on recovery.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Hard sensor limits (7.1 mm/s, 85 °C) alert even if the model is missing; LLM outage falls back to rule-based narrative.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The LLM only sees the evidence pack, which is displayed next to every answer for audit.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663440" y="2487168"/>
            <a:ext cx="4069080" cy="19202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4773168" y="2596896"/>
            <a:ext cx="292608" cy="292608"/>
          </a:xfrm>
          <a:prstGeom prst="ellipse">
            <a:avLst/>
          </a:prstGeom>
          <a:solidFill>
            <a:srgbClr val="E8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38928" y="2578608"/>
            <a:ext cx="3474720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Demo flow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73168" y="2944368"/>
            <a:ext cx="38404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Overview opens with CNC-002 and PMP-001 at CRITICAL, two auto-created P1 work orders, plant OEE by line.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Alert triage: acknowledge, open the 72 h sensor view, ask Granite for the root cause (bearing wear signature).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Investigate: "Which asset had the most unplanned downtime?" (verified) and a free-form question (text-to-SQL).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850" b="0" i="0">
                <a:solidFill>
                  <a:srgbClr val="0B1F3A"/>
                </a:solidFill>
                <a:latin typeface="Arial"/>
              </a:rPr>
              <a:t>Second terminal: simulate_stream.py --degrade CNC-003 raises a live alert and work order within a minute.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73168" y="411480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1" i="0">
                <a:solidFill>
                  <a:srgbClr val="0B1F3A"/>
                </a:solidFill>
                <a:latin typeface="Arial"/>
              </a:rPr>
              <a:t>Repo: </a:t>
            </a:r>
            <a:r>
              <a:rPr sz="850" b="0" i="0">
                <a:solidFill>
                  <a:srgbClr val="1565D8"/>
                </a:solidFill>
                <a:latin typeface="Arial"/>
              </a:rPr>
              <a:t>github.com/Amogh892/factorypulse-oee-command-center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3A"/>
                </a:solidFill>
                <a:latin typeface="Arial"/>
              </a:rPr>
              <a:t>Impact: measurable now, scalable, extensible later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33271"/>
            <a:ext cx="8321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B6472"/>
                </a:solidFill>
                <a:latin typeface="Arial"/>
              </a:rPr>
              <a:t>Figures from the generated plant (8 assets, 30 days, 17 unplanned failures, forward-looking holdout on the last 30 % of the timeline)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17320"/>
            <a:ext cx="1591056" cy="960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1444752"/>
            <a:ext cx="1499616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565D8"/>
                </a:solidFill>
                <a:latin typeface="Arial"/>
              </a:rPr>
              <a:t>0.98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" y="1920240"/>
            <a:ext cx="1444752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ROC-AUC on holdout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3976" y="1417320"/>
            <a:ext cx="1591056" cy="960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139696" y="1444752"/>
            <a:ext cx="1499616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565D8"/>
                </a:solidFill>
                <a:latin typeface="Arial"/>
              </a:rPr>
              <a:t>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7128" y="1920240"/>
            <a:ext cx="1444752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of failure hours flagged in the 24 h window (recall)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76472" y="1417320"/>
            <a:ext cx="1591056" cy="960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822191" y="1444752"/>
            <a:ext cx="1499616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E87A1A"/>
                </a:solidFill>
                <a:latin typeface="Arial"/>
              </a:rPr>
              <a:t>~20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1920240"/>
            <a:ext cx="1444752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average warning lead time before breakdown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58968" y="1417320"/>
            <a:ext cx="1591056" cy="960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04688" y="1444752"/>
            <a:ext cx="1499616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5B6472"/>
                </a:solidFill>
                <a:latin typeface="Arial"/>
              </a:rPr>
              <a:t>83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20240"/>
            <a:ext cx="1444752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unplanned downtime in 30 days (~5 h per event)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41464" y="1417320"/>
            <a:ext cx="1591056" cy="960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87184" y="1444752"/>
            <a:ext cx="1499616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E9E6A"/>
                </a:solidFill>
                <a:latin typeface="Arial"/>
              </a:rPr>
              <a:t>&lt; 1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1920240"/>
            <a:ext cx="1444752" cy="4389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850" b="0" i="0">
                <a:solidFill>
                  <a:srgbClr val="5B6472"/>
                </a:solidFill>
                <a:latin typeface="Arial"/>
              </a:rPr>
              <a:t>from CRITICAL alert to P1 work order (was hours)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542032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21208" y="2651760"/>
            <a:ext cx="292608" cy="292608"/>
          </a:xfrm>
          <a:prstGeom prst="ellipse">
            <a:avLst/>
          </a:prstGeom>
          <a:solidFill>
            <a:srgbClr val="156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2633472"/>
            <a:ext cx="211226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Measurable outcomes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2999232"/>
            <a:ext cx="2478024" cy="1783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Precision 87% / recall 91%: few false alarms, most failures caught a shift ahead.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Every CRITICAL alert carries its drivers and opens a work order with evidence, cutting triage from hours to seconds.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Root-cause narrative in ~10 s and data questions in ~3 s on a CPU-only plant PC, grounded and audited.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If 9 of 10 failures become planned interventions, most of the 83 h/month of unplanned downtime turns into shorter, scheduled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23260" y="2542032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3332988" y="2651760"/>
            <a:ext cx="292608" cy="292608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98748" y="2633472"/>
            <a:ext cx="211226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Scalability potential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2988" y="2999232"/>
            <a:ext cx="2478024" cy="1783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Snowflake twin: Dynamic Tables refresh incrementally, a Task scores every 15 min, the model sits in the Model Registry.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Adding assets, lines or plants adds rows, not code: features, OEE and alerts are all per-asset.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Cortex Analyst semantic model exposes the same verified queries in Snowsight agents and the Slackbot.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Sensitive OT data can stay on site with the local Granite model; cloud handles scale and governance.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2542032"/>
            <a:ext cx="2697480" cy="2286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144768" y="2651760"/>
            <a:ext cx="292608" cy="292608"/>
          </a:xfrm>
          <a:prstGeom prst="ellipse">
            <a:avLst/>
          </a:prstGeom>
          <a:solidFill>
            <a:srgbClr val="E8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2633472"/>
            <a:ext cx="2112264" cy="32918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B1F3A"/>
                </a:solidFill>
                <a:latin typeface="Arial"/>
              </a:rPr>
              <a:t>Beyond the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2999232"/>
            <a:ext cx="2478024" cy="1783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Replace synthetic feeds with Snowpipe Streaming / Kafka for historians and ERP connectors for SAP.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MCP connectors to the CMMS (SAP PM, Maximo) and Slack so the agent creates and routes real work orders.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Feedback loop: closed work orders with technician verdicts retrain the model and refine failure modes.</a:t>
            </a:r>
          </a:p>
          <a:p>
            <a:pPr algn="l" marL="155448" indent="-155448">
              <a:spcAft>
                <a:spcPts val="200"/>
              </a:spcAft>
              <a:buChar char="•"/>
            </a:pPr>
            <a:r>
              <a:rPr sz="900" b="0" i="0">
                <a:solidFill>
                  <a:srgbClr val="0B1F3A"/>
                </a:solidFill>
                <a:latin typeface="Arial"/>
              </a:rPr>
              <a:t>Survival model for time-to-failure, spare-parts forecasting, and a triage → RCA → planner multi-agent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